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15968"/>
            <a:ext cx="12191695" cy="4572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FB6E8"/>
                </a:solidFill>
                <a:latin typeface="맑은 고딕"/>
              </a:rPr>
              <a:t>KAFKA INFRA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3대 Kafka 클러스터 설정,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왜 이렇게 구성했는가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C7D3EE"/>
                </a:solidFill>
                <a:latin typeface="맑은 고딕"/>
              </a:rPr>
              <a:t>MSA 비동기 메시징 백본 · KRaft(ZooKeeper 없는) 구조 · PLAINTEXT 예제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9FB6E8"/>
                </a:solidFill>
                <a:latin typeface="맑은 고딕"/>
              </a:rPr>
              <a:t>docker-compose.yml 설정 근거 요약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6E8"/>
                </a:solidFill>
                <a:latin typeface="맑은 고딕"/>
              </a:rPr>
              <a:t>ONE-PAGE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맑은 고딕"/>
              </a:rPr>
              <a:t>핵심 결론 — 이 설정이 지키는 3가지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611880" cy="2286000"/>
          </a:xfrm>
          <a:prstGeom prst="round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64008" cy="2286000"/>
          </a:xfrm>
          <a:prstGeom prst="rect">
            <a:avLst/>
          </a:prstGeom>
          <a:solidFill>
            <a:srgbClr val="0E9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1051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1. 무손실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12848"/>
            <a:ext cx="31546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한 번 성공 응답한 메시지는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절대 잃지 않는다.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222A37"/>
                </a:solidFill>
                <a:latin typeface="맑은 고딕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9F7B"/>
                </a:solidFill>
                <a:latin typeface="맑은 고딕"/>
              </a:rPr>
              <a:t>3중 복제 + ISR 2 보장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611880" cy="2286000"/>
          </a:xfrm>
          <a:prstGeom prst="round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64008" cy="228600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81051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2. 무중단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212848"/>
            <a:ext cx="31546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서버 1대가 죽어도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메시지 송·수신이 멈추지 않는다.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222A37"/>
                </a:solidFill>
                <a:latin typeface="맑은 고딕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7CF6"/>
                </a:solidFill>
                <a:latin typeface="맑은 고딕"/>
              </a:rPr>
              <a:t>3표 쿼럼 → 1대 장애 허용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611880" cy="2286000"/>
          </a:xfrm>
          <a:prstGeom prst="round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64008" cy="2286000"/>
          </a:xfrm>
          <a:prstGeom prst="rect">
            <a:avLst/>
          </a:prstGeom>
          <a:solidFill>
            <a:srgbClr val="5B5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81051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3. 최소 비용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212848"/>
            <a:ext cx="31546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서버 3대 안에서 위 두 가지를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모두 달성한다.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222A37"/>
                </a:solidFill>
                <a:latin typeface="맑은 고딕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B53C6"/>
                </a:solidFill>
                <a:latin typeface="맑은 고딕"/>
              </a:rPr>
              <a:t>ZooKeeper 별도 3대 불필요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51960"/>
            <a:ext cx="11064240" cy="1737360"/>
          </a:xfrm>
          <a:prstGeom prst="roundRect">
            <a:avLst/>
          </a:prstGeom>
          <a:solidFill>
            <a:srgbClr val="E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51960"/>
            <a:ext cx="64008" cy="1737360"/>
          </a:xfrm>
          <a:prstGeom prst="rect">
            <a:avLst/>
          </a:prstGeom>
          <a:solidFill>
            <a:srgbClr val="5B5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41655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한 줄로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818888"/>
            <a:ext cx="106070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22A37"/>
                </a:solidFill>
                <a:latin typeface="맑은 고딕"/>
              </a:rPr>
              <a:t>서버 3대라는 최소 구성으로 </a:t>
            </a:r>
            <a:r>
              <a:rPr sz="1700" b="1">
                <a:solidFill>
                  <a:srgbClr val="1F2A44"/>
                </a:solidFill>
                <a:latin typeface="맑은 고딕"/>
              </a:rPr>
              <a:t>‘돈(메시지)을 잃지 않고, 한 대가 고장 나도 서비스가 계속되는’</a:t>
            </a:r>
            <a:r>
              <a:rPr sz="1700" b="0">
                <a:solidFill>
                  <a:srgbClr val="222A37"/>
                </a:solidFill>
                <a:latin typeface="맑은 고딕"/>
              </a:rPr>
              <a:t> 안전한 메시징 인프라를 만드는 설정입니다.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472"/>
                </a:solidFill>
                <a:latin typeface="맑은 고딕"/>
              </a:rPr>
              <a:t>PLAINTEXT 버전은 신뢰된 사내망 / 학습·검증용이며, 외부 노출 시에는 암호화·인증 버전으로 교체합니다.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472"/>
                </a:solidFill>
                <a:latin typeface="맑은 고딕"/>
              </a:rPr>
              <a:t>Kafka 3-node KRaft (PLAINTEXT) · docker-compose 설정 설명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6472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6E8"/>
                </a:solidFill>
                <a:latin typeface="맑은 고딕"/>
              </a:rPr>
              <a:t>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맑은 고딕"/>
              </a:rPr>
              <a:t>전체 구조 — 똑같은 서버 3대가 서로를 보완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3017520" cy="2286000"/>
          </a:xfrm>
          <a:prstGeom prst="roundRect">
            <a:avLst/>
          </a:prstGeom>
          <a:solidFill>
            <a:srgbClr val="F3F5FA"/>
          </a:solidFill>
          <a:ln w="19050">
            <a:solidFill>
              <a:srgbClr val="5B5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F2A44"/>
                </a:solidFill>
                <a:latin typeface="맑은 고딕"/>
              </a:rPr>
              <a:t>서버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472"/>
                </a:solidFill>
                <a:latin typeface="Consolas"/>
              </a:rPr>
              <a:t>10.0.0.11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063240"/>
            <a:ext cx="2377440" cy="457200"/>
          </a:xfrm>
          <a:prstGeom prst="roundRect">
            <a:avLst/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272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CF6"/>
                </a:solidFill>
                <a:latin typeface="맑은 고딕"/>
              </a:rPr>
              <a:t>Broker (메시지 저장·전달)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611880"/>
            <a:ext cx="2377440" cy="457200"/>
          </a:xfrm>
          <a:prstGeom prst="roundRect">
            <a:avLst/>
          </a:prstGeom>
          <a:solidFill>
            <a:srgbClr val="E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67588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53C6"/>
                </a:solidFill>
                <a:latin typeface="맑은 고딕"/>
              </a:rPr>
              <a:t>Controller (설정 관리)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434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472"/>
                </a:solidFill>
                <a:latin typeface="Consolas"/>
              </a:rPr>
              <a:t>NODE_ID =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011680"/>
            <a:ext cx="3017520" cy="2286000"/>
          </a:xfrm>
          <a:prstGeom prst="roundRect">
            <a:avLst/>
          </a:prstGeom>
          <a:solidFill>
            <a:srgbClr val="F3F5FA"/>
          </a:solidFill>
          <a:ln w="19050">
            <a:solidFill>
              <a:srgbClr val="5B5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F2A44"/>
                </a:solidFill>
                <a:latin typeface="맑은 고딕"/>
              </a:rPr>
              <a:t>서버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7004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472"/>
                </a:solidFill>
                <a:latin typeface="Consolas"/>
              </a:rPr>
              <a:t>10.0.0.12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3063240"/>
            <a:ext cx="2377440" cy="457200"/>
          </a:xfrm>
          <a:prstGeom prst="roundRect">
            <a:avLst/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31272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CF6"/>
                </a:solidFill>
                <a:latin typeface="맑은 고딕"/>
              </a:rPr>
              <a:t>Broker (메시지 저장·전달)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611880"/>
            <a:ext cx="2377440" cy="457200"/>
          </a:xfrm>
          <a:prstGeom prst="roundRect">
            <a:avLst/>
          </a:prstGeom>
          <a:solidFill>
            <a:srgbClr val="E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67588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53C6"/>
                </a:solidFill>
                <a:latin typeface="맑은 고딕"/>
              </a:rPr>
              <a:t>Controller (설정 관리)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3434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472"/>
                </a:solidFill>
                <a:latin typeface="Consolas"/>
              </a:rPr>
              <a:t>NODE_ID =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2011680"/>
            <a:ext cx="3017520" cy="2286000"/>
          </a:xfrm>
          <a:prstGeom prst="roundRect">
            <a:avLst/>
          </a:prstGeom>
          <a:solidFill>
            <a:srgbClr val="F3F5FA"/>
          </a:solidFill>
          <a:ln w="19050">
            <a:solidFill>
              <a:srgbClr val="5B5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1945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F2A44"/>
                </a:solidFill>
                <a:latin typeface="맑은 고딕"/>
              </a:rPr>
              <a:t>서버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67004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472"/>
                </a:solidFill>
                <a:latin typeface="Consolas"/>
              </a:rPr>
              <a:t>10.0.0.13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3063240"/>
            <a:ext cx="2377440" cy="457200"/>
          </a:xfrm>
          <a:prstGeom prst="roundRect">
            <a:avLst/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31272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CF6"/>
                </a:solidFill>
                <a:latin typeface="맑은 고딕"/>
              </a:rPr>
              <a:t>Broker (메시지 저장·전달)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3611880"/>
            <a:ext cx="2377440" cy="457200"/>
          </a:xfrm>
          <a:prstGeom prst="roundRect">
            <a:avLst/>
          </a:prstGeom>
          <a:solidFill>
            <a:srgbClr val="E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367588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53C6"/>
                </a:solidFill>
                <a:latin typeface="맑은 고딕"/>
              </a:rPr>
              <a:t>Controller (설정 관리)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3434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472"/>
                </a:solidFill>
                <a:latin typeface="Consolas"/>
              </a:rPr>
              <a:t>NODE_ID =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6472"/>
                </a:solidFill>
                <a:latin typeface="맑은 고딕"/>
              </a:rPr>
              <a:t>← → 3대가 서로 데이터를 복제하고, 설정 관리 권한도 함께 나눠 가집니다 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349240"/>
            <a:ext cx="10543032" cy="777240"/>
          </a:xfrm>
          <a:prstGeom prst="round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5349240"/>
            <a:ext cx="64008" cy="77724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5513832"/>
            <a:ext cx="10085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포인트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5916168"/>
            <a:ext cx="10085832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3대가 </a:t>
            </a:r>
            <a:r>
              <a:rPr sz="1500" b="1">
                <a:solidFill>
                  <a:srgbClr val="1F2A44"/>
                </a:solidFill>
                <a:latin typeface="맑은 고딕"/>
              </a:rPr>
              <a:t>완전히 같은 설정 파일</a:t>
            </a:r>
            <a:r>
              <a:rPr sz="1500" b="0">
                <a:solidFill>
                  <a:srgbClr val="222A37"/>
                </a:solidFill>
                <a:latin typeface="맑은 고딕"/>
              </a:rPr>
              <a:t>을 쓰고, 서버마다 다른 값(번호·IP)만 </a:t>
            </a:r>
            <a:r>
              <a:rPr sz="1500" b="1">
                <a:solidFill>
                  <a:srgbClr val="2F7CF6"/>
                </a:solidFill>
                <a:latin typeface="맑은 고딕"/>
              </a:rPr>
              <a:t>.env 로 주입</a:t>
            </a:r>
            <a:r>
              <a:rPr sz="1500" b="0">
                <a:solidFill>
                  <a:srgbClr val="222A37"/>
                </a:solidFill>
                <a:latin typeface="맑은 고딕"/>
              </a:rPr>
              <a:t>합니다. → 운영·복구가 단순해집니다.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472"/>
                </a:solidFill>
                <a:latin typeface="맑은 고딕"/>
              </a:rPr>
              <a:t>Kafka 3-node KRaft (PLAINTEXT) · docker-compose 설정 설명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6472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6E8"/>
                </a:solidFill>
                <a:latin typeface="맑은 고딕"/>
              </a:rPr>
              <a:t>설정 ①  역할 /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맑은 고딕"/>
              </a:rPr>
              <a:t>왜 ZooKeeper 없이 Kafka만 3대인가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86400" cy="1463040"/>
          </a:xfrm>
          <a:prstGeom prst="round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83080"/>
            <a:ext cx="5029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D6E1FF"/>
                </a:solidFill>
                <a:latin typeface="Consolas"/>
              </a:rPr>
              <a:t>KAFKA_PROCESS_ROLES: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D6E1FF"/>
                </a:solidFill>
                <a:latin typeface="Consolas"/>
              </a:rPr>
              <a:t>  broker,controller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D6E1FF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D6E1FF"/>
                </a:solidFill>
                <a:latin typeface="Consolas"/>
              </a:rPr>
              <a:t>KAFKA_NODE_ID: ${KAFKA_NODE_ID}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349240" cy="1463040"/>
          </a:xfrm>
          <a:prstGeom prst="round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600200"/>
            <a:ext cx="64008" cy="1463040"/>
          </a:xfrm>
          <a:prstGeom prst="rect">
            <a:avLst/>
          </a:prstGeom>
          <a:solidFill>
            <a:srgbClr val="5B5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76479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무슨 뜻?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167128"/>
            <a:ext cx="4892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A37"/>
                </a:solidFill>
                <a:latin typeface="맑은 고딕"/>
              </a:rPr>
              <a:t>각 서버가 </a:t>
            </a:r>
            <a:r>
              <a:rPr sz="1400" b="1">
                <a:solidFill>
                  <a:srgbClr val="2F7CF6"/>
                </a:solidFill>
                <a:latin typeface="맑은 고딕"/>
              </a:rPr>
              <a:t>메시지 처리(broker)</a:t>
            </a:r>
            <a:r>
              <a:rPr sz="1400" b="0">
                <a:solidFill>
                  <a:srgbClr val="222A37"/>
                </a:solidFill>
                <a:latin typeface="맑은 고딕"/>
              </a:rPr>
              <a:t> 와 </a:t>
            </a:r>
            <a:r>
              <a:rPr sz="1400" b="1">
                <a:solidFill>
                  <a:srgbClr val="5B53C6"/>
                </a:solidFill>
                <a:latin typeface="맑은 고딕"/>
              </a:rPr>
              <a:t>설정 관리(controller)</a:t>
            </a:r>
            <a:r>
              <a:rPr sz="1400" b="0">
                <a:solidFill>
                  <a:srgbClr val="222A37"/>
                </a:solidFill>
                <a:latin typeface="맑은 고딕"/>
              </a:rPr>
              <a:t> 를 겸합니다.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472"/>
                </a:solidFill>
                <a:latin typeface="맑은 고딕"/>
              </a:rPr>
              <a:t>예전엔 설정 관리를 위해 ZooKeeper 서버를 따로 뒀습니다.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40"/>
            <a:ext cx="5394960" cy="2697480"/>
          </a:xfrm>
          <a:prstGeom prst="roundRect">
            <a:avLst/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64008" cy="2697480"/>
          </a:xfrm>
          <a:prstGeom prst="rect">
            <a:avLst/>
          </a:prstGeom>
          <a:solidFill>
            <a:srgbClr val="C97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4564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과거 방식 (ZooKeeper)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858768"/>
            <a:ext cx="4937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• Kafka + ZooKeeper </a:t>
            </a:r>
            <a:r>
              <a:rPr sz="1500" b="1">
                <a:solidFill>
                  <a:srgbClr val="C97A11"/>
                </a:solidFill>
                <a:latin typeface="맑은 고딕"/>
              </a:rPr>
              <a:t>두 종류</a:t>
            </a:r>
            <a:r>
              <a:rPr sz="1500" b="0">
                <a:solidFill>
                  <a:srgbClr val="222A37"/>
                </a:solidFill>
                <a:latin typeface="맑은 고딕"/>
              </a:rPr>
              <a:t> 를 각각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  설치·튜닝·감시·업그레이드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• 관리 대상이 2배, 장애 지점도 2배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• 고장 복구가 상대적으로 느림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222A37"/>
                </a:solidFill>
                <a:latin typeface="맑은 고딕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97A11"/>
                </a:solidFill>
                <a:latin typeface="맑은 고딕"/>
              </a:rPr>
              <a:t>→ 운영 부담이 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291840"/>
            <a:ext cx="5532120" cy="269748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291840"/>
            <a:ext cx="64008" cy="2697480"/>
          </a:xfrm>
          <a:prstGeom prst="rect">
            <a:avLst/>
          </a:prstGeom>
          <a:solidFill>
            <a:srgbClr val="0E9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4564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지금 방식 (KRaft)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858768"/>
            <a:ext cx="5074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• Kafka </a:t>
            </a:r>
            <a:r>
              <a:rPr sz="1500" b="1">
                <a:solidFill>
                  <a:srgbClr val="0E9F7B"/>
                </a:solidFill>
                <a:latin typeface="맑은 고딕"/>
              </a:rPr>
              <a:t>한 종류만</a:t>
            </a:r>
            <a:r>
              <a:rPr sz="1500" b="0">
                <a:solidFill>
                  <a:srgbClr val="222A37"/>
                </a:solidFill>
                <a:latin typeface="맑은 고딕"/>
              </a:rPr>
              <a:t> 관리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• ZooKeeper 서버(보통 3대) 불필요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• 고장 시 복구가 훨씬 빠름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• Kafka 4.0부터는 KRaft만 지원 (표준)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222A37"/>
                </a:solidFill>
                <a:latin typeface="맑은 고딕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9F7B"/>
                </a:solidFill>
                <a:latin typeface="맑은 고딕"/>
              </a:rPr>
              <a:t>→ 더 단순하고 미래 표준에 부합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472"/>
                </a:solidFill>
                <a:latin typeface="맑은 고딕"/>
              </a:rPr>
              <a:t>Kafka 3-node KRaft (PLAINTEXT) · docker-compose 설정 설명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6472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6E8"/>
                </a:solidFill>
                <a:latin typeface="맑은 고딕"/>
              </a:rPr>
              <a:t>PROCESS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맑은 고딕"/>
              </a:rPr>
              <a:t>프로세스 구조 — 우리 서버엔 왜 Kafka 하나만 뜨나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02152" cy="475488"/>
          </a:xfrm>
          <a:prstGeom prst="roundRect">
            <a:avLst/>
          </a:prstGeom>
          <a:solidFill>
            <a:srgbClr val="C97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73352"/>
            <a:ext cx="35021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① ZooKeeper 모드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76272"/>
            <a:ext cx="3502152" cy="3063240"/>
          </a:xfrm>
          <a:prstGeom prst="roundRect">
            <a:avLst/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502152" cy="475488"/>
          </a:xfrm>
          <a:prstGeom prst="round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673352"/>
            <a:ext cx="35021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② KRaft combined   ‹현재 우리 구성›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76272"/>
            <a:ext cx="3502152" cy="3063240"/>
          </a:xfrm>
          <a:prstGeom prst="roundRect">
            <a:avLst/>
          </a:prstGeom>
          <a:solidFill>
            <a:srgbClr val="E8F1FF"/>
          </a:solidFill>
          <a:ln w="31750">
            <a:solidFill>
              <a:srgbClr val="2F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502152" cy="475488"/>
          </a:xfrm>
          <a:prstGeom prst="roundRect">
            <a:avLst/>
          </a:prstGeom>
          <a:solidFill>
            <a:srgbClr val="5B5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73352"/>
            <a:ext cx="35021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③ KRaft dedicated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76272"/>
            <a:ext cx="3502152" cy="3063240"/>
          </a:xfrm>
          <a:prstGeom prst="roundRect">
            <a:avLst/>
          </a:prstGeom>
          <a:solidFill>
            <a:srgbClr val="E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04288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6472"/>
                </a:solidFill>
                <a:latin typeface="맑은 고딕"/>
              </a:rPr>
              <a:t>서버 1대에 프로세스 2개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70048"/>
            <a:ext cx="3136392" cy="658368"/>
          </a:xfrm>
          <a:prstGeom prst="roundRect">
            <a:avLst/>
          </a:prstGeom>
          <a:solidFill>
            <a:srgbClr val="FBE8C8"/>
          </a:solidFill>
          <a:ln w="19050">
            <a:solidFill>
              <a:srgbClr val="C97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670048"/>
            <a:ext cx="295351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C97A11"/>
                </a:solidFill>
                <a:latin typeface="맑은 고딕"/>
              </a:rPr>
              <a:t>ZooKeeper 프로세스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4670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6472"/>
                </a:solidFill>
                <a:latin typeface="맑은 고딕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39312"/>
            <a:ext cx="3136392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39312"/>
            <a:ext cx="295351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</a:rPr>
              <a:t>Kafka 프로세스 (broker)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98848"/>
            <a:ext cx="3136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A37"/>
                </a:solidFill>
                <a:latin typeface="맑은 고딕"/>
              </a:rPr>
              <a:t>★ 이 브로커 중 하나가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2A37"/>
                </a:solidFill>
                <a:latin typeface="맑은 고딕"/>
              </a:rPr>
              <a:t>controller 역할을 겸함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304288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6472"/>
                </a:solidFill>
                <a:latin typeface="맑은 고딕"/>
              </a:rPr>
              <a:t>서버 1대에 프로세스 1개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2670048"/>
            <a:ext cx="313639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2761488"/>
            <a:ext cx="31363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</a:rPr>
              <a:t>Kafka 프로세스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054096"/>
            <a:ext cx="31363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5B6472"/>
                </a:solidFill>
                <a:latin typeface="Consolas"/>
              </a:rPr>
              <a:t>roles = broker,controller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383280"/>
            <a:ext cx="1325880" cy="548640"/>
          </a:xfrm>
          <a:prstGeom prst="roundRect">
            <a:avLst/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383280"/>
            <a:ext cx="1143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F7CF6"/>
                </a:solidFill>
                <a:latin typeface="맑은 고딕"/>
              </a:rPr>
              <a:t>broker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3383280"/>
            <a:ext cx="1325880" cy="548640"/>
          </a:xfrm>
          <a:prstGeom prst="roundRect">
            <a:avLst/>
          </a:prstGeom>
          <a:solidFill>
            <a:srgbClr val="E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3383280"/>
            <a:ext cx="1143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B53C6"/>
                </a:solidFill>
                <a:latin typeface="맑은 고딕"/>
              </a:rPr>
              <a:t>controller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206240"/>
            <a:ext cx="3136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A37"/>
                </a:solidFill>
                <a:latin typeface="맑은 고딕"/>
              </a:rPr>
              <a:t>★ 3대의 controller 중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2A37"/>
                </a:solidFill>
                <a:latin typeface="맑은 고딕"/>
              </a:rPr>
              <a:t>하나가 active controller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304288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6472"/>
                </a:solidFill>
                <a:latin typeface="맑은 고딕"/>
              </a:rPr>
              <a:t>역할별로 서버를 분리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2670048"/>
            <a:ext cx="3136392" cy="960120"/>
          </a:xfrm>
          <a:prstGeom prst="roundRect">
            <a:avLst/>
          </a:prstGeom>
          <a:solidFill>
            <a:srgbClr val="ECEAFF"/>
          </a:solidFill>
          <a:ln w="19050">
            <a:solidFill>
              <a:srgbClr val="5B5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2670048"/>
            <a:ext cx="295351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B53C6"/>
                </a:solidFill>
                <a:latin typeface="맑은 고딕"/>
              </a:rPr>
              <a:t>컨트롤러 서버 × 3 (소형)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B53C6"/>
                </a:solidFill>
                <a:latin typeface="맑은 고딕"/>
              </a:rPr>
              <a:t>Kafka (controller)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767328"/>
            <a:ext cx="3136392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3767328"/>
            <a:ext cx="295351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맑은 고딕"/>
              </a:rPr>
              <a:t>브로커 서버 × 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2A44"/>
                </a:solidFill>
                <a:latin typeface="맑은 고딕"/>
              </a:rPr>
              <a:t>Kafka (broker)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349240"/>
            <a:ext cx="3502152" cy="566928"/>
          </a:xfrm>
          <a:prstGeom prst="round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349240"/>
            <a:ext cx="328269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22A37"/>
                </a:solidFill>
                <a:latin typeface="맑은 고딕"/>
              </a:rPr>
              <a:t>프로세스 2종 · ZooKeeper 별도 운영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3400" y="5349240"/>
            <a:ext cx="3502152" cy="566928"/>
          </a:xfrm>
          <a:prstGeom prst="round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53128" y="5349240"/>
            <a:ext cx="328269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22A37"/>
                </a:solidFill>
                <a:latin typeface="맑은 고딕"/>
              </a:rPr>
              <a:t>Kafka 1개(겸용) · ZooKeeper 없음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5349240"/>
            <a:ext cx="3502152" cy="566928"/>
          </a:xfrm>
          <a:prstGeom prst="round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5349240"/>
            <a:ext cx="328269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22A37"/>
                </a:solidFill>
                <a:latin typeface="맑은 고딕"/>
              </a:rPr>
              <a:t>역할별 서버 분리 · ZooKeeper 없음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016752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472"/>
                </a:solidFill>
                <a:latin typeface="맑은 고딕"/>
              </a:rPr>
              <a:t>→ ZooKeeper만 별도 프로그램. broker·controller는 ‘Kafka’ 한 프로그램의 역할이라, 우리 구성(combined)은 서버당 Kafka 하나만 뜹니다.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472"/>
                </a:solidFill>
                <a:latin typeface="맑은 고딕"/>
              </a:rPr>
              <a:t>Kafka 3-node KRaft (PLAINTEXT) · docker-compose 설정 설명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6472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6E8"/>
                </a:solidFill>
                <a:latin typeface="맑은 고딕"/>
              </a:rPr>
              <a:t>설정 ②  가용성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맑은 고딕"/>
              </a:rPr>
              <a:t>왜 하필 3대인가 — ‘다수결(쿼럼)’ 이야기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868680"/>
          </a:xfrm>
          <a:prstGeom prst="round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830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D6E1FF"/>
                </a:solidFill>
                <a:latin typeface="Consolas"/>
              </a:rPr>
              <a:t>KAFKA_CONTROLLER_QUORUM_VOTERS: 1@kafka1:9093, 2@kafka2:9093, 3@kafka3:9093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5486400" cy="3291840"/>
          </a:xfrm>
          <a:prstGeom prst="round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64008" cy="329184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86207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다수결로 정한다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64408"/>
            <a:ext cx="502920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설정 변경·리더 교체 같은 중요한 결정은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맑은 고딕"/>
              </a:rPr>
              <a:t>3표 중 과반(2표)</a:t>
            </a:r>
            <a:r>
              <a:rPr sz="1500" b="0">
                <a:solidFill>
                  <a:srgbClr val="222A37"/>
                </a:solidFill>
                <a:latin typeface="맑은 고딕"/>
              </a:rPr>
              <a:t> 이 동의해야 확정됩니다.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222A37"/>
                </a:solidFill>
                <a:latin typeface="맑은 고딕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E9F7B"/>
                </a:solidFill>
                <a:latin typeface="맑은 고딕"/>
              </a:rPr>
              <a:t>• 3대 중 1대 고장 → 남은 2표 = 과반 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472"/>
                </a:solidFill>
                <a:latin typeface="맑은 고딕"/>
              </a:rPr>
              <a:t>   → 정상 동작 (무중단)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97A11"/>
                </a:solidFill>
                <a:latin typeface="맑은 고딕"/>
              </a:rPr>
              <a:t>• 3대 중 2대 고장 → 1표 &lt; 과반 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472"/>
                </a:solidFill>
                <a:latin typeface="맑은 고딕"/>
              </a:rPr>
              <a:t>   → 안전을 위해 변경 중단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97480"/>
            <a:ext cx="5394960" cy="3291840"/>
          </a:xfrm>
          <a:prstGeom prst="roundRect">
            <a:avLst/>
          </a:prstGeom>
          <a:solidFill>
            <a:srgbClr val="E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697480"/>
            <a:ext cx="64008" cy="3291840"/>
          </a:xfrm>
          <a:prstGeom prst="rect">
            <a:avLst/>
          </a:prstGeom>
          <a:solidFill>
            <a:srgbClr val="5B5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86207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왜 홀수(3)인가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264408"/>
            <a:ext cx="493776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A37"/>
                </a:solidFill>
                <a:latin typeface="맑은 고딕"/>
              </a:rPr>
              <a:t>‘과반’ 은 절대 두 편에 동시에 존재할 수 없습니다.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A37"/>
                </a:solidFill>
                <a:latin typeface="맑은 고딕"/>
              </a:rPr>
              <a:t>→ 네트워크가 둘로 쪼개져도 잘못된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A37"/>
                </a:solidFill>
                <a:latin typeface="맑은 고딕"/>
              </a:rPr>
              <a:t>   중복 결정(데이터 꼬임)을 원천 차단.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222A37"/>
                </a:solidFill>
                <a:latin typeface="맑은 고딕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</a:rPr>
              <a:t>허용 장애 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A37"/>
                </a:solidFill>
                <a:latin typeface="Consolas"/>
              </a:rPr>
              <a:t>1대: 0대 버팀 / 3대: 1대 버팀 / 5대: 2대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>
                <a:solidFill>
                  <a:srgbClr val="222A37"/>
                </a:solidFill>
                <a:latin typeface="맑은 고딕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472"/>
                </a:solidFill>
                <a:latin typeface="맑은 고딕"/>
              </a:rPr>
              <a:t>4대는 3대와 똑같이 1대만 버팀 → 낭비.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472"/>
                </a:solidFill>
                <a:latin typeface="맑은 고딕"/>
              </a:rPr>
              <a:t>그래서 3, 5, 7… 홀수로 구성합니다.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472"/>
                </a:solidFill>
                <a:latin typeface="맑은 고딕"/>
              </a:rPr>
              <a:t>Kafka 3-node KRaft (PLAINTEXT) · docker-compose 설정 설명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6472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6E8"/>
                </a:solidFill>
                <a:latin typeface="맑은 고딕"/>
              </a:rPr>
              <a:t>설정 ③  통신 경로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맑은 고딕"/>
              </a:rPr>
              <a:t>포트를 왜 둘로 나눴나 (9092 / 9093)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1600200"/>
          </a:xfrm>
          <a:prstGeom prst="round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830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D6E1FF"/>
                </a:solidFill>
                <a:latin typeface="Consolas"/>
              </a:rPr>
              <a:t>KAFKA_LISTENERS:            PLAINTEXT://:9092, CONTROLLER://:9093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D6E1FF"/>
                </a:solidFill>
                <a:latin typeface="Consolas"/>
              </a:rPr>
              <a:t>KAFKA_ADVERTISED_LISTENERS: PLAINTEXT://${ADVERTISED_HOST}:9092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D6E1FF"/>
                </a:solidFill>
                <a:latin typeface="Consolas"/>
              </a:rPr>
              <a:t>KAFKA_INTER_BROKER_LISTENER_NAME: PLAINTEXT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D6E1FF"/>
                </a:solidFill>
                <a:latin typeface="Consolas"/>
              </a:rPr>
              <a:t>KAFKA_CONTROLLER_LISTENER_NAMES:  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5486400" cy="2377440"/>
          </a:xfrm>
          <a:prstGeom prst="round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474720"/>
            <a:ext cx="64008" cy="237744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63931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9092 — 업무용 회선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041648"/>
            <a:ext cx="5029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실제 메시지가 오가는 통로.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F7CF6"/>
                </a:solidFill>
                <a:latin typeface="맑은 고딕"/>
              </a:rPr>
              <a:t>• 앱(생산자·소비자) ↔ Kafka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F7CF6"/>
                </a:solidFill>
                <a:latin typeface="맑은 고딕"/>
              </a:rPr>
              <a:t>• 브로커 간 데이터 복제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222A37"/>
                </a:solidFill>
                <a:latin typeface="맑은 고딕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472"/>
                </a:solidFill>
                <a:latin typeface="맑은 고딕"/>
              </a:rPr>
              <a:t>ADVERTISED = ‘나에게 연결하려면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472"/>
                </a:solidFill>
                <a:latin typeface="맑은 고딕"/>
              </a:rPr>
              <a:t>이 주소로 오라’ 고 알려주는 실제 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474720"/>
            <a:ext cx="5394960" cy="2377440"/>
          </a:xfrm>
          <a:prstGeom prst="roundRect">
            <a:avLst/>
          </a:prstGeom>
          <a:solidFill>
            <a:srgbClr val="E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474720"/>
            <a:ext cx="64008" cy="2377440"/>
          </a:xfrm>
          <a:prstGeom prst="rect">
            <a:avLst/>
          </a:prstGeom>
          <a:solidFill>
            <a:srgbClr val="5B5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36393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9093 — 내부 관리용 회선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4041648"/>
            <a:ext cx="493776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설정·합의(쿼럼) 전용 통로.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B53C6"/>
                </a:solidFill>
                <a:latin typeface="맑은 고딕"/>
              </a:rPr>
              <a:t>• 컨트롤러 3대끼리만 사용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222A37"/>
                </a:solidFill>
                <a:latin typeface="맑은 고딕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472"/>
                </a:solidFill>
                <a:latin typeface="맑은 고딕"/>
              </a:rPr>
              <a:t>업무 트래픽과 관리 트래픽을 분리해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472"/>
                </a:solidFill>
                <a:latin typeface="맑은 고딕"/>
              </a:rPr>
              <a:t>서로 간섭·혼선을 없앱니다.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472"/>
                </a:solidFill>
                <a:latin typeface="맑은 고딕"/>
              </a:rPr>
              <a:t>Kafka 3-node KRaft (PLAINTEXT) · docker-compose 설정 설명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6472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6E8"/>
                </a:solidFill>
                <a:latin typeface="맑은 고딕"/>
              </a:rPr>
              <a:t>설정 ④  보안 수준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맑은 고딕"/>
              </a:rPr>
              <a:t>왜 암호화·인증을 껐나 (PLAINTEXT)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86400" cy="2286000"/>
          </a:xfrm>
          <a:prstGeom prst="round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64008" cy="228600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1051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이 버전의 전제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12848"/>
            <a:ext cx="5029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신뢰된 사내망(격리망) 또는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맑은 고딕"/>
              </a:rPr>
              <a:t>학습·검증용</a:t>
            </a:r>
            <a:r>
              <a:rPr sz="1500" b="0">
                <a:solidFill>
                  <a:srgbClr val="222A37"/>
                </a:solidFill>
                <a:latin typeface="맑은 고딕"/>
              </a:rPr>
              <a:t> 이라는 전제.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222A37"/>
                </a:solidFill>
                <a:latin typeface="맑은 고딕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472"/>
                </a:solidFill>
                <a:latin typeface="맑은 고딕"/>
              </a:rPr>
              <a:t>외부에서 접근할 수 없는 폐쇄망에서는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472"/>
                </a:solidFill>
                <a:latin typeface="맑은 고딕"/>
              </a:rPr>
              <a:t>암호화·인증을 빼 구성·성능을 단순화합니다.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94960" cy="2286000"/>
          </a:xfrm>
          <a:prstGeom prst="roundRect">
            <a:avLst/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64008" cy="2286000"/>
          </a:xfrm>
          <a:prstGeom prst="rect">
            <a:avLst/>
          </a:prstGeom>
          <a:solidFill>
            <a:srgbClr val="C97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8105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장점 / 트레이드오프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212848"/>
            <a:ext cx="4937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9F7B"/>
                </a:solidFill>
                <a:latin typeface="맑은 고딕"/>
              </a:rPr>
              <a:t>+ 설정이 단순, 인증서 관리 부담 없음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9F7B"/>
                </a:solidFill>
                <a:latin typeface="맑은 고딕"/>
              </a:rPr>
              <a:t>+ 학습·PoC 속도가 빠름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222A37"/>
                </a:solidFill>
                <a:latin typeface="맑은 고딕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97A11"/>
                </a:solidFill>
                <a:latin typeface="맑은 고딕"/>
              </a:rPr>
              <a:t>− 통신이 평문 → 망을 벗어나면 위험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97A11"/>
                </a:solidFill>
                <a:latin typeface="맑은 고딕"/>
              </a:rPr>
              <a:t>− 접근 제어(인증) 없음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60520"/>
            <a:ext cx="11064240" cy="1828800"/>
          </a:xfrm>
          <a:prstGeom prst="roundRect">
            <a:avLst/>
          </a:prstGeom>
          <a:solidFill>
            <a:srgbClr val="E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60520"/>
            <a:ext cx="64008" cy="1828800"/>
          </a:xfrm>
          <a:prstGeom prst="rect">
            <a:avLst/>
          </a:prstGeom>
          <a:solidFill>
            <a:srgbClr val="5B5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325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운영 전환 시 (외부 노출·민감 데이터)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727448"/>
            <a:ext cx="10607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F2A44"/>
                </a:solidFill>
                <a:latin typeface="맑은 고딕"/>
              </a:rPr>
              <a:t>암호화(TLS) + 인증(SASL/SCRAM) 버전으로 교체</a:t>
            </a:r>
            <a:r>
              <a:rPr sz="1700" b="0">
                <a:solidFill>
                  <a:srgbClr val="222A37"/>
                </a:solidFill>
                <a:latin typeface="맑은 고딕"/>
              </a:rPr>
              <a:t> 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472"/>
                </a:solidFill>
                <a:latin typeface="맑은 고딕"/>
              </a:rPr>
              <a:t>→ 저장소의 compose-3node-kraft (SASL_SSL + mTLS) 예제를 사용. 구조는 동일하고 보안 계층만 추가됩니다.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A37"/>
                </a:solidFill>
                <a:latin typeface="맑은 고딕"/>
              </a:rPr>
              <a:t>즉, 지금 설정은 ‘보안을 무시한 것’ 이 아니라 ‘폐쇄망 전제에서 의도적으로 뺀 것’ 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472"/>
                </a:solidFill>
                <a:latin typeface="맑은 고딕"/>
              </a:rPr>
              <a:t>Kafka 3-node KRaft (PLAINTEXT) · docker-compose 설정 설명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6472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6E8"/>
                </a:solidFill>
                <a:latin typeface="맑은 고딕"/>
              </a:rPr>
              <a:t>설정 ⑤  무손실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맑은 고딕"/>
              </a:rPr>
              <a:t>메시지를 잃지 않게 하는 설정들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502920"/>
          </a:xfrm>
          <a:prstGeom prst="rect">
            <a:avLst/>
          </a:prstGeom>
          <a:solidFill>
            <a:srgbClr val="1F2A44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291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맑은 고딕"/>
              </a:rPr>
              <a:t>설정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onsolas"/>
              </a:rPr>
              <a:t>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600200"/>
            <a:ext cx="624535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왜 이렇게?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11091672" cy="713232"/>
          </a:xfrm>
          <a:prstGeom prst="rect">
            <a:avLst/>
          </a:prstGeom>
          <a:solidFill>
            <a:srgbClr val="F3F5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2A37"/>
                </a:solidFill>
                <a:latin typeface="맑은 고딕"/>
              </a:rPr>
              <a:t>복제본 수 (replication factor)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03120"/>
            <a:ext cx="1005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7CF6"/>
                </a:solidFill>
                <a:latin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103120"/>
            <a:ext cx="624535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A37"/>
                </a:solidFill>
                <a:latin typeface="맑은 고딕"/>
              </a:rPr>
              <a:t>파티션을 3대에 모두 복제 → 2대까지 살아있으면 데이터 보존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16352"/>
            <a:ext cx="110916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16352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2A37"/>
                </a:solidFill>
                <a:latin typeface="맑은 고딕"/>
              </a:rPr>
              <a:t>최소 동기 복제본 (min.insync)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816352"/>
            <a:ext cx="1005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7CF6"/>
                </a:solidFill>
                <a:latin typeface="Consola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816352"/>
            <a:ext cx="624535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A37"/>
                </a:solidFill>
                <a:latin typeface="맑은 고딕"/>
              </a:rPr>
              <a:t>최소 2대가 받은 뒤에만 ‘성공’ 응답 → 1대 죽어도 안전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29584"/>
            <a:ext cx="11091672" cy="713232"/>
          </a:xfrm>
          <a:prstGeom prst="rect">
            <a:avLst/>
          </a:prstGeom>
          <a:solidFill>
            <a:srgbClr val="F3F5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29584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2A37"/>
                </a:solidFill>
                <a:latin typeface="맑은 고딕"/>
              </a:rPr>
              <a:t>불완전 리더 선출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529584"/>
            <a:ext cx="1005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7CF6"/>
                </a:solidFill>
                <a:latin typeface="Consolas"/>
              </a:rPr>
              <a:t>false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529584"/>
            <a:ext cx="624535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A37"/>
                </a:solidFill>
                <a:latin typeface="맑은 고딕"/>
              </a:rPr>
              <a:t>뒤처진 복제본이 리더가 되어 데이터가 사라지는 것을 차단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42816"/>
            <a:ext cx="110916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42816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2A37"/>
                </a:solidFill>
                <a:latin typeface="맑은 고딕"/>
              </a:rPr>
              <a:t>오프셋·트랜잭션 로그 복제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42816"/>
            <a:ext cx="1005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7CF6"/>
                </a:solidFill>
                <a:latin typeface="Consolas"/>
              </a:rPr>
              <a:t>3 /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4242816"/>
            <a:ext cx="624535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A37"/>
                </a:solidFill>
                <a:latin typeface="맑은 고딕"/>
              </a:rPr>
              <a:t>‘어디까지 읽었나’ 같은 내부 정보도 똑같이 3중 보호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956048"/>
            <a:ext cx="11091672" cy="713232"/>
          </a:xfrm>
          <a:prstGeom prst="rect">
            <a:avLst/>
          </a:prstGeom>
          <a:solidFill>
            <a:srgbClr val="F3F5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56048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2A37"/>
                </a:solidFill>
                <a:latin typeface="맑은 고딕"/>
              </a:rPr>
              <a:t>토픽 자동 생성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956048"/>
            <a:ext cx="1005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7CF6"/>
                </a:solidFill>
                <a:latin typeface="Consolas"/>
              </a:rPr>
              <a:t>false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956048"/>
            <a:ext cx="624535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A37"/>
                </a:solidFill>
                <a:latin typeface="맑은 고딕"/>
              </a:rPr>
              <a:t>오타·실수로 엉뚱한 토픽이 생기는 것 방지 (거버넌스)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472"/>
                </a:solidFill>
                <a:latin typeface="맑은 고딕"/>
              </a:rPr>
              <a:t>Kafka 3-node KRaft (PLAINTEXT) · docker-compose 설정 설명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6472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6E8"/>
                </a:solidFill>
                <a:latin typeface="맑은 고딕"/>
              </a:rPr>
              <a:t>설정 ⑤ 보충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맑은 고딕"/>
              </a:rPr>
              <a:t>‘3중 복제 + 최소 2대’ 가 무손실을 만드는 이유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292608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64008" cy="2926080"/>
          </a:xfrm>
          <a:prstGeom prst="rect">
            <a:avLst/>
          </a:prstGeom>
          <a:solidFill>
            <a:srgbClr val="0E9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105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평상시 (3대 정상)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12848"/>
            <a:ext cx="310896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데이터가 3대에 저장.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2대 이상이 받으면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‘성공’ 으로 확정.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222A37"/>
                </a:solidFill>
                <a:latin typeface="맑은 고딕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E9F7B"/>
                </a:solidFill>
                <a:latin typeface="맑은 고딕"/>
              </a:rPr>
              <a:t>● ● 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472"/>
                </a:solidFill>
                <a:latin typeface="맑은 고딕"/>
              </a:rPr>
              <a:t>여유 있게 동작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566160" cy="2926080"/>
          </a:xfrm>
          <a:prstGeom prst="round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64008" cy="292608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8105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1대 고장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212848"/>
            <a:ext cx="310896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남은 2대가 여전히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‘최소 2대’ 조건을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만족.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222A37"/>
                </a:solidFill>
                <a:latin typeface="맑은 고딕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F7CF6"/>
                </a:solidFill>
                <a:latin typeface="맑은 고딕"/>
              </a:rPr>
              <a:t>● ● 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472"/>
                </a:solidFill>
                <a:latin typeface="맑은 고딕"/>
              </a:rPr>
              <a:t>정상 송·수신 유지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593592" cy="2926080"/>
          </a:xfrm>
          <a:prstGeom prst="roundRect">
            <a:avLst/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2926080"/>
          </a:xfrm>
          <a:prstGeom prst="rect">
            <a:avLst/>
          </a:prstGeom>
          <a:solidFill>
            <a:srgbClr val="C97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810512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2대 고장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212848"/>
            <a:ext cx="3136392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남은 1대뿐 → ‘최소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2대’ 불충족.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쓰기를 멈춰 데이터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꼬임을 방지.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C97A11"/>
                </a:solidFill>
                <a:latin typeface="맑은 고딕"/>
              </a:rPr>
              <a:t>● ○ 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472"/>
                </a:solidFill>
                <a:latin typeface="맑은 고딕"/>
              </a:rPr>
              <a:t>안전 우선 (손실 X)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00600"/>
            <a:ext cx="11091672" cy="1188720"/>
          </a:xfrm>
          <a:prstGeom prst="roundRect">
            <a:avLst/>
          </a:prstGeom>
          <a:solidFill>
            <a:srgbClr val="E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800600"/>
            <a:ext cx="64008" cy="1188720"/>
          </a:xfrm>
          <a:prstGeom prst="rect">
            <a:avLst/>
          </a:prstGeom>
          <a:solidFill>
            <a:srgbClr val="5B5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965192"/>
            <a:ext cx="1063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핵심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367528"/>
            <a:ext cx="10634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22A37"/>
                </a:solidFill>
                <a:latin typeface="맑은 고딕"/>
              </a:rPr>
              <a:t>‘빠르게 대충 받기’ 대신 ‘2대가 확실히 받았을 때만 성공’ 으로 처리합니다. </a:t>
            </a:r>
            <a:r>
              <a:rPr sz="1600" b="1">
                <a:solidFill>
                  <a:srgbClr val="1F2A44"/>
                </a:solidFill>
                <a:latin typeface="맑은 고딕"/>
              </a:rPr>
              <a:t>속도를 조금 양보하고 안전(무손실)을 얻는 의도적 선택</a:t>
            </a:r>
            <a:r>
              <a:rPr sz="1600" b="0">
                <a:solidFill>
                  <a:srgbClr val="222A37"/>
                </a:solidFill>
                <a:latin typeface="맑은 고딕"/>
              </a:rPr>
              <a:t> 입니다.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472"/>
                </a:solidFill>
                <a:latin typeface="맑은 고딕"/>
              </a:rPr>
              <a:t>금전·주문·이벤트처럼 잃으면 안 되는 MSA 메시지에 맞춘 기준입니다.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472"/>
                </a:solidFill>
                <a:latin typeface="맑은 고딕"/>
              </a:rPr>
              <a:t>Kafka 3-node KRaft (PLAINTEXT) · docker-compose 설정 설명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6472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6E8"/>
                </a:solidFill>
                <a:latin typeface="맑은 고딕"/>
              </a:rPr>
              <a:t>설정 ⑥  운영 편의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맑은 고딕"/>
              </a:rPr>
              <a:t>장애·복구를 쉽게 만드는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91672" cy="1024128"/>
          </a:xfrm>
          <a:prstGeom prst="round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64008" cy="1024128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10512"/>
            <a:ext cx="1063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같은 파일 + .env 주입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12848"/>
            <a:ext cx="10634472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A37"/>
                </a:solidFill>
                <a:latin typeface="맑은 고딕"/>
              </a:rPr>
              <a:t>3대가 동일 파일 사용, 서버별 차이(번호·IP)만 .env로. → 설정 불일치로 인한 사고 예방, 신규 서버 투입 간단.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61488"/>
            <a:ext cx="11091672" cy="1024128"/>
          </a:xfrm>
          <a:prstGeom prst="round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761488"/>
            <a:ext cx="64008" cy="1024128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926080"/>
            <a:ext cx="1063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restart: unless-stopped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328416"/>
            <a:ext cx="10634472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A37"/>
                </a:solidFill>
                <a:latin typeface="맑은 고딕"/>
              </a:rPr>
              <a:t>서버 재부팅·프로세스 비정상 종료 시 컨테이너 자동 재기동. → 야간 장애에도 자동 복구.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7056"/>
            <a:ext cx="11091672" cy="1024128"/>
          </a:xfrm>
          <a:prstGeom prst="round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77056"/>
            <a:ext cx="64008" cy="1024128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041648"/>
            <a:ext cx="1063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volume: /data/kafka 고정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443984"/>
            <a:ext cx="10634472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A37"/>
                </a:solidFill>
                <a:latin typeface="맑은 고딕"/>
              </a:rPr>
              <a:t>메시지를 호스트 디스크에 저장. → 컨테이너를 지우고 다시 만들어도 데이터 유지.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92624"/>
            <a:ext cx="11091672" cy="1024128"/>
          </a:xfrm>
          <a:prstGeom prst="round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992624"/>
            <a:ext cx="64008" cy="1024128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157216"/>
            <a:ext cx="1063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extra_hosts (이름↔IP 매핑)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559552"/>
            <a:ext cx="10634472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A37"/>
                </a:solidFill>
                <a:latin typeface="맑은 고딕"/>
              </a:rPr>
              <a:t>3대가 서로를 이름으로 찾도록 연결. → 사내 DNS가 있으면 생략 가능.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472"/>
                </a:solidFill>
                <a:latin typeface="맑은 고딕"/>
              </a:rPr>
              <a:t>Kafka 3-node KRaft (PLAINTEXT) · docker-compose 설정 설명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6472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6E8"/>
                </a:solidFill>
                <a:latin typeface="맑은 고딕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맑은 고딕"/>
              </a:rPr>
              <a:t>정리 — 물어보실 만한 것들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86400" cy="219456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64008" cy="2194560"/>
          </a:xfrm>
          <a:prstGeom prst="rect">
            <a:avLst/>
          </a:prstGeom>
          <a:solidFill>
            <a:srgbClr val="0E9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1051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이 설정이 보장하는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12848"/>
            <a:ext cx="502920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E9F7B"/>
                </a:solidFill>
                <a:latin typeface="맑은 고딕"/>
              </a:rPr>
              <a:t>✓ 서버 1대 고장 시에도 무중단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E9F7B"/>
                </a:solidFill>
                <a:latin typeface="맑은 고딕"/>
              </a:rPr>
              <a:t>✓ 한 번 받은 메시지는 무손실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E9F7B"/>
                </a:solidFill>
                <a:latin typeface="맑은 고딕"/>
              </a:rPr>
              <a:t>✓ ZooKeeper 없이 3대로 최소 비용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E9F7B"/>
                </a:solidFill>
                <a:latin typeface="맑은 고딕"/>
              </a:rPr>
              <a:t>✓ 설정 단순화로 운영·복구 용이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422392" cy="2194560"/>
          </a:xfrm>
          <a:prstGeom prst="roundRect">
            <a:avLst/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64008" cy="2194560"/>
          </a:xfrm>
          <a:prstGeom prst="rect">
            <a:avLst/>
          </a:prstGeom>
          <a:solidFill>
            <a:srgbClr val="C97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810512"/>
            <a:ext cx="49651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현재 한계 (의도된)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212848"/>
            <a:ext cx="496519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97A11"/>
                </a:solidFill>
                <a:latin typeface="맑은 고딕"/>
              </a:rPr>
              <a:t>• 통신 평문 (PLAINTEXT)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97A11"/>
                </a:solidFill>
                <a:latin typeface="맑은 고딕"/>
              </a:rPr>
              <a:t>• 접근 인증 없음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472"/>
                </a:solidFill>
                <a:latin typeface="맑은 고딕"/>
              </a:rPr>
              <a:t>→ 신뢰된 사내망 전제이기 때문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472"/>
                </a:solidFill>
                <a:latin typeface="맑은 고딕"/>
              </a:rPr>
              <a:t>→ 2대 동시 고장 시엔 안전을 위해 정지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11091672" cy="1920240"/>
          </a:xfrm>
          <a:prstGeom prst="roundRect">
            <a:avLst/>
          </a:prstGeom>
          <a:solidFill>
            <a:srgbClr val="E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69080"/>
            <a:ext cx="64008" cy="1920240"/>
          </a:xfrm>
          <a:prstGeom prst="rect">
            <a:avLst/>
          </a:prstGeom>
          <a:solidFill>
            <a:srgbClr val="5B5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233672"/>
            <a:ext cx="1063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맑은 고딕"/>
              </a:rPr>
              <a:t>다음 단계 (필요 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636008"/>
            <a:ext cx="1063447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1) 외부 노출·민감 데이터  →  </a:t>
            </a:r>
            <a:r>
              <a:rPr sz="1500" b="1">
                <a:solidFill>
                  <a:srgbClr val="1F2A44"/>
                </a:solidFill>
                <a:latin typeface="맑은 고딕"/>
              </a:rPr>
              <a:t>TLS 암호화 + SASL 인증 버전으로 교체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2) 트래픽 대폭 증가(수십 대)  →  </a:t>
            </a:r>
            <a:r>
              <a:rPr sz="1500" b="1">
                <a:solidFill>
                  <a:srgbClr val="1F2A44"/>
                </a:solidFill>
                <a:latin typeface="맑은 고딕"/>
              </a:rPr>
              <a:t>controller 를 별도 서버로 분리(dedicated)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7"/>
                </a:solidFill>
                <a:latin typeface="맑은 고딕"/>
              </a:rPr>
              <a:t>3) 랙/AZ 분산 배치  →  2대 동시 고장 확률을 낮춤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222A37"/>
                </a:solidFill>
                <a:latin typeface="맑은 고딕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B53C6"/>
                </a:solidFill>
                <a:latin typeface="맑은 고딕"/>
              </a:rPr>
              <a:t>지금 구성은 ‘3대 사내 메시징 백본’ 에 최적화된 표준 선택입니다.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472"/>
                </a:solidFill>
                <a:latin typeface="맑은 고딕"/>
              </a:rPr>
              <a:t>Kafka 3-node KRaft (PLAINTEXT) · docker-compose 설정 설명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6472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B6E8"/>
                </a:solidFill>
                <a:latin typeface="맑은 고딕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맑은 고딕"/>
              </a:rPr>
              <a:t>docker-compose.yml 전체 원문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1672" cy="420624"/>
          </a:xfrm>
          <a:prstGeom prst="roundRect">
            <a:avLst/>
          </a:prstGeom>
          <a:solidFill>
            <a:srgbClr val="E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222A37"/>
                </a:solidFill>
                <a:latin typeface="맑은 고딕"/>
              </a:rPr>
              <a:t>노드별로 다른 값만 .env 로 주입: </a:t>
            </a:r>
            <a:r>
              <a:rPr sz="1200" b="1">
                <a:solidFill>
                  <a:srgbClr val="5B53C6"/>
                </a:solidFill>
                <a:latin typeface="Consolas"/>
              </a:rPr>
              <a:t>KAFKA_NODE_ID · ADVERTISED_HOST · CLUSTER_ID</a:t>
            </a:r>
            <a:r>
              <a:rPr sz="1200" b="0">
                <a:solidFill>
                  <a:srgbClr val="5B6472"/>
                </a:solidFill>
                <a:latin typeface="맑은 고딕"/>
              </a:rPr>
              <a:t>  (나머지는 3대 동일)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83664"/>
            <a:ext cx="11091672" cy="4434840"/>
          </a:xfrm>
          <a:prstGeom prst="round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10698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services: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kafka: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image: apache/kafka:4.0.0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container_name: kafka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restart: unless-stopped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ports: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- "9092:9092"   # PLAINTEXT (클라이언트 + 브로커 간)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- "9093:9093"   # CONTROLLER (쿼럼)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environment: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E8CB0"/>
                </a:solidFill>
                <a:latin typeface="Consolas"/>
              </a:rPr>
              <a:t>      # --- KRaft 역할/식별 ---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KAFKA_PROCESS_ROLES: broker,controller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KAFKA_NODE_ID: ${KAFKA_NODE_ID}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KAFKA_CONTROLLER_QUORUM_VOTERS: 1@kafka1:9093,2@kafka2:9093,3@kafka3:9093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KAFKA_CONTROLLER_LISTENER_NAMES: CONTROLLER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E8CB0"/>
                </a:solidFill>
                <a:latin typeface="Consolas"/>
              </a:rPr>
              <a:t>      # --- 리스너 (PLAINTEXT) ---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KAFKA_LISTENERS: PLAINTEXT://:9092,CONTROLLER://:9093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KAFKA_ADVERTISED_LISTENERS: PLAINTEXT://${ADVERTISED_HOST}:9092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KAFKA_LISTENER_SECURITY_PROTOCOL_MAP: CONTROLLER:PLAINTEXT,PLAINTEXT:PLAINTEXT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KAFKA_INTER_BROKER_LISTENER_NAME: PLAINTEXT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E8CB0"/>
                </a:solidFill>
                <a:latin typeface="Consolas"/>
              </a:rPr>
              <a:t>      # --- 무손실 기본값 ---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KAFKA_DEFAULT_REPLICATION_FACTOR: 3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KAFKA_MIN_INSYNC_REPLICAS: 2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KAFKA_OFFSETS_TOPIC_REPLICATION_FACTOR: 3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KAFKA_TRANSACTION_STATE_LOG_REPLICATION_FACTOR: 3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KAFKA_TRANSACTION_STATE_LOG_MIN_ISR: 2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KAFKA_UNCLEAN_LEADER_ELECTION_ENABLE: "false"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KAFKA_AUTO_CREATE_TOPICS_ENABLE: "false"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E8CB0"/>
                </a:solidFill>
                <a:latin typeface="Consolas"/>
              </a:rPr>
              <a:t>      # --- 저장 + 클러스터 ID (3대 동일) ---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KAFKA_LOG_DIRS: /var/lib/kafka/data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CLUSTER_ID: ${CLUSTER_ID}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volumes: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- /data/kafka:/var/lib/kafka/data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E8CB0"/>
                </a:solidFill>
                <a:latin typeface="Consolas"/>
              </a:rPr>
              <a:t>    # 컨테이너가 다른 노드 이름을 해석하도록 매핑 (DNS 있으면 생략)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extra_hosts: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- "kafka1:10.0.0.11"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- "kafka2:10.0.0.12"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6E1FF"/>
                </a:solidFill>
                <a:latin typeface="Consolas"/>
              </a:rPr>
              <a:t>      - "kafka3:10.0.0.13"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B6472"/>
                </a:solidFill>
                <a:latin typeface="맑은 고딕"/>
              </a:rPr>
              <a:t>Kafka 3-node KRaft (PLAINTEXT) · docker-compose 설정 설명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6472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